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本课不是研究结论报告，而是从模型推导到数值验证，再到第一性原理基础测试的入门课程。建议分三次学习：推导、代码、验证。阅读同名中文教程，运行 Notebook，最后解释每张图。所有中文内容和配套程序为本仓库编写；MIT OCW 原教材另外保存并按其许可注明归属。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验收不是背出3.53，而是知道该值来自弱耦合极限，并能独立求解方程。学习者应知道输入是有效配对参数，输出是模型能隙和配对温度。真实材料测试只有常态SCF与Γ点声子和ASR后处理，没有EPC或材料Tc。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S模型提供可解析的训练场。第一性原理路线提供真实电子态、声子和矩阵元。关联材料还需要相互作用模型和多体方法。本课不把声子路线当成所有超导的通用解释，也不把材料分类、序参量对称性和配对机制混为一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模型取均匀各向同性s波、常单自旋DOS、对称能量截止和平均场。有效吸引没有在代码中由声子计算得到。没有多带、强关联、磁场、涡旋、相位涨落和BKT。符号Δ在该均匀无流无破对模型中对应最小正准粒子能量；一般材料不能如此简单等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N0与V的体积或格点归一化必须配套。如果资料使用双自旋总DOS，应先除以2得到这里的N0。ξ是相对化学势的常态能量。Ec是配对窗口，不是DFT平面波动能截止。程序temperature表示kBT/Ec，而不是开尔文。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只是动量空间配对示意，不代表电子沿圆轨道运动。约化模型挑选时间反演相关的k↑与−k↓配对，形成自旋单态s波通道。Cooper问题和BCS多体相干态不是同一个问题。有限密度体系的宏观相位相干也不自动由二体束缚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完整公式和求和归一化见中文教程。这里用B算符减少投影上的上标负担。V为正的吸引大小，负号显式位于相互作用前。k,k′都限定在配对窗口。电子动能使用ξ=ε−μ。这个模型并未显式计算声子。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把B写成平均值加涨落。B†B保留线性涨落项，舍去二阶涨落项。定义Δ=VΣ〈B〉，得到配对二次型和|Δ|²/V常数。该常数在能谱问题中不改变本征值，但自由能比较时不可丢。平均场近似不是严格求解强关联体系。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使用Ψ=(c_k↑,c†_−k↓)^T。按前页Δ定义，矩阵的非对角元为−Δ和−Δ*。其他资料可能以不同相位约定写成+Δ，但能谱不变。±E是Nambu表象的结构，不能据此再把物理电子态数额外乘以2。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由det(h−EI)=0得到E²=ξ²+|Δ|²。在ξ=0最小正能量为|Δ|。这描述均匀、无流、无破对的各向同性模型，不应把它推成所有超导态的结论。练习是用numpy.linalg.eigvalsh逐点检验解析式。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实Δ且采用一致Bogoliubov变换约定时，u²=(1+ξ/E)/2，v²=(1−ξ/E)/2，uv=Δ/(2E)。在ξ=0，u²=v²=1/2。在远离费米面时恢复接近电子或空穴特征。不要把Nambu双分支当双倍DOS。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有限温度的异常平均值为Δ/(2E)tanh(E/2kBT)。代回Δ定义就形成自洽方程。原始方程始终有Δ=0解，非零配对支路需要额外处理。本代码没有盲目从零开始固定点迭代，而是用非零支路残差括区间求根。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对k求和转成单自旋DOS N0在−Ec到Ec的积分。分母有2E，核是偶函数，正负区间带来的2抵消分母2。若使用总双自旋DOS则须先取Ntotal/2。详细LaTeX公式见配套教程，不要凭记忆添加自旋因子。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定义x=ξ/Ec，d=Δ/Ec，t=kBT/Ec。积分中的Ec抵消，只有g决定无量纲结果。程序temperature是t，不是温度K。给定假设截止Ec后才能做单位换算。本例20meV仅用于教学，未从Al的DFT导出。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T=0时tanh变成1，积分为asinh(1/d0)，所以d0=1/sinh(1/g)。这是有限截止模型精确公式。弱耦合才近似为2exp(−1/g)。测试使用独立数值积分验证这一公式，以避免完全同源的自我确认。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让d趋于零得到临界方程。正温度下x=0处核的极限是1/(2tc)，不发散。tc用独立求根得到。弱耦合tc≈2e^γ/π exp(−1/g)，与d0结合得到3.527754。有限g的比值可以稍有偏差，不代表程序错或强耦合理论已实现。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进行自适应积分，在变化尺度设置分段点。Brent求根需要两端异号。在正温度且低于tc时，正根位于0到d0，Tc以上选择正常态零解。实际程序对d和t用d0缩放求根变量，改善弱耦合精度。极端小g会拒绝，以免把精度失效误判为无超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先看bcs.py，再跑run_bcs.py，最后读test_bcs.py。model.gap(t)中t为kBT/Ec。可通过README创建虚拟环境，依赖固定了主要数值库版本。Notebook从本例目录启动，避免找不到bcs模块。所有图可以用同一脚本重新生成。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由本仓库run_bcs.py生成，111个温度点，从0到1.10Tc。实线是有限截止方程求解；虚线为常用tanh近似插值。低温平台在浮点精度下可出现相等的相邻点，自动检查是非增而非严格下降。正常态点不参与已除以Δ的残差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g扫描0.18到0.60。弱耦合指数公式在小g时吻合更好，能隙比趋于3.527754。较大g时有限截止偏差增加，但模型仍是同一个静态常DOS平均场，不能称为强耦合Eliashberg。这里的g不等于电子–声子耦合λ。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图片采用η/Δ0=0.03的Dynes现象学展宽，常DOS低能近似。η不是从杂质散射或第一性原理得到的寿命，也不等于DFT的degauss。展宽降低相干峰并产生隙内权重。DOS公式不施加能隙方程的有限截止，需在低能范围解释。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固定g=0.30并假设Ec=20meV，Tc=tc*Ec/kB≈9.387945K，Δ0≈1.428778meV。Ec加倍且g不变时两者加倍，无量纲曲线不变。真实材料更改能标可能同时更改DOS和相互作用，不能自动照搬。此数与Al集群测试没有参数关联。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实际7个unittest均通过。此处把7项按5组展示：零温独立积分、弱耦合、趋势与端点、DOS对称正常极限、单位非法输入。默认非零支路最大残差约3.87e−13。容差扫描检查积分稳定性，不能等价于材料k/q网格收敛。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不要先看答案。练习A把g改为0.18，能隙比应更接近弱耦合值。B固定g把Ec加倍，无量纲曲线不变，物理Tc与Δ0加倍。C把η增大，DOS峰降低并变宽，隙内权重增加。完整教程还有因子2、矩阵对角化练习和答案。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轮只读物理和推导，重点是单自旋DOS、均值分解和自洽。第二轮Notebook逐格运行，先观察结果再改参数。第三轮运行测试并完成独立积分、单位和残差解释。时间是学习安排建议，不是任务自动计时。遇到公式困难时先掌握计算对象和假设，再补二次量子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常态DFT得到电子结构与电荷密度，DFPT得到晶格响应，EPC才提供电子–声子矩阵元，Eliashberg求配对与重整化。本次仅执行SCF、Γ声子与ASR；定位了epw.x并不等于跑过EPW。非声子路线需另选模型与方法。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实际使用fccAl单原子原胞，a=7.65339Bohr约4.05Å，PBE PAW赝势。SCF是40Ry波函数截止、320Ry电荷截止、8³偏移k网格、MV smearing0.02Ry。只是冒烟参数，没有做cutoff/k/smearing收敛。赝势来自集群既有文件，仓库只保存文件名和哈希，不再分发。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HostBridge约定使用DirectMCPTaskRunner，计算放Slurm。主Job313274，iq-main，4MPI，8GB，20分钟上限。sacct确认COMPLETED，退出0:0，实际13秒。程序日志SCF5次收敛，总能量−39.50303902Ry，pw和ph均JOBDONE。提交收据不是科学完成证明，要核对应用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始三个声学频率都是−3.374924cm−1，表示动力学矩阵负本征值的虚频记法。在单原子原胞Γ平移理论应为零。另提交Job313279，单核dynmat，crystalASR后三个频率为0.000000cm−1，COMPLETED0:0。ASR强制平移约束，不代表原始采样已收敛，更不能排除有限q不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先独立扫描ecutwfc与ecutrho，再联合k网格和smearing，看能量、应力和指定q频率。有限q测试之后才扩展q网格和EPC。每个点用独立目录防止scratch相互覆盖。能量和频率容差要事先写清，最后以λ、α²F、Tc稳定性为目标。这个表是计划，不是已完成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项目可参考EPW官方Pb各向同性或MgB2各向异性超导教程，再选原始论文的明确图表。先记录目标、输入、版本、近似、参数。先跑低成本基准，检查收敛，再逐点比较。只下载资料或跑通软件不等于已复现。不能为了匹配结果任意调μ*而不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仓库下载了MITOCW6.763Lecture19和8.514ProblemSet6原始PDF，未修改。TerryP.Orlando与LeonidLevitov授课资料，由MITOpenCourseWare发布，遵守CCBYNCSA4.0：署名、非商业、相同方式共享。归属、原链接、下载日期与SHA256见resources。该许可只说明这两个PDF，不能自动视为全仓库许可。没有复制版权状态不明教材或EPW整套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项行动是用自己的话解释温度曲线，并重新生成所有图；第二项是完成独立数值检查；第三项阅读Al集群日志，区分正常完成、电子自洽、声子约束和材料收敛。然后进入BdG基准或Al参数收敛。参考：BCS原论文doi10.1103/PhysRev.108.1175；MITOCW课程资源；QE输入官方文档；EPW官方超导教程；HostBridge计算约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BCS 超导理论与计算入门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33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从一个可验证的模型出发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280720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6CE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→ Code → Checks → Materials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6537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中文推导 · 可运行 Python · 交互练习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真实集群测试 · 原始记录 · 开放教材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302752" y="2011680"/>
            <a:ext cx="2514600" cy="251460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39328" y="2139696"/>
            <a:ext cx="244144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</a:t>
            </a:r>
            <a:endParaRPr lang="en-US" sz="9700" dirty="0"/>
          </a:p>
        </p:txBody>
      </p:sp>
      <p:sp>
        <p:nvSpPr>
          <p:cNvPr id="12" name="Text 9"/>
          <p:cNvSpPr/>
          <p:nvPr/>
        </p:nvSpPr>
        <p:spPr>
          <a:xfrm>
            <a:off x="640080" y="5669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能隙只是起点，验证才是桥梁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完成本课后，你应能解释什么？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210312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Hamiltonian 到能隙方程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99282" y="210312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0450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0450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609594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09594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 Δ(T)、Tc 和 DOS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04204" y="210312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5372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5372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14516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14516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解析极限、残差与单位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009126" y="210312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10294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10294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219438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19438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DFT、DFPT 与 EPC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40080" y="52760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验收方式：讲清一条公式，运行一段代码，解释一项误差。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模型计算与材料计算是两条相连的线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3474720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2996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本课：模型基准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305409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有效吸引 g、截止 Ec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能隙方程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Δ(T)、模型 Tc、DOS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52544" y="1828800"/>
            <a:ext cx="3474720" cy="3264408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62856" y="202996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材料：声子路线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62856" y="2697480"/>
            <a:ext cx="305409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DFT → DFPT → EPC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α²F 或各向异性核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Eliashberg 与收敛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110728" y="1828800"/>
            <a:ext cx="3474720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02996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材料：关联路线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21040" y="2697480"/>
            <a:ext cx="305409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Wannier / Hubbard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顶角、涨落与配对核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多体方法与误差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" y="55595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本次连接点：Al 的常态 SCF + Γ 点 DFPT 冒烟测试。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ASSUMPTIONS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先把假设写清楚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5330952" cy="1819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2996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均匀各向同性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与空间、动量无关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选规范后可取实非负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54496" y="1828800"/>
            <a:ext cx="5330952" cy="18196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02996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 DOS 与对称截止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4808" y="269748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N₀ 为单自旋 DOS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 |ξ| &lt; Ec 内配对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94360" y="3941064"/>
            <a:ext cx="5330952" cy="18196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4142232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平均场 Mean Field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04672" y="4809744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以配对平均值替代涨落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不含涡旋与相位无序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54496" y="3941064"/>
            <a:ext cx="5330952" cy="1819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4142232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不是材料预测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64808" y="4809744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与 Ec 是假设输入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不能从结果反证机制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符号表：尤其留意单自旋 DOS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33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47088"/>
          <a:ext cx="1099108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047488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英文概念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本课约定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ξ = ε − 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Relative energy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相对化学势的常态能量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N₀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Single-spin DOS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若给双自旋总 DOS，N₀ = Ntotal / 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 &gt; 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Attraction magnitude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吸引项前显式写负号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 = N₀V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Coupling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无量纲有效吸引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Pairing cutoff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配对窗口能标，不是 ecutwfc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Δ、kBT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Gap / Thermal energy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无量纲化后 d = Δ/Ec，t = kBT/Ec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Cooper 配对：反向动量、相反自旋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80160" y="1865376"/>
            <a:ext cx="3657600" cy="3657600"/>
          </a:xfrm>
          <a:prstGeom prst="ellipse">
            <a:avLst/>
          </a:prstGeom>
          <a:solidFill>
            <a:srgbClr val="F6F2E9">
              <a:alpha val="0"/>
            </a:srgbClr>
          </a:solidFill>
          <a:ln w="38100">
            <a:solidFill>
              <a:srgbClr val="087F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600200" y="2286000"/>
            <a:ext cx="3017520" cy="2834640"/>
          </a:xfrm>
          <a:prstGeom prst="line">
            <a:avLst/>
          </a:prstGeom>
          <a:noFill/>
          <a:ln w="17780">
            <a:solidFill>
              <a:srgbClr val="506D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86784" y="2103120"/>
            <a:ext cx="457200" cy="457200"/>
          </a:xfrm>
          <a:prstGeom prst="ellipse">
            <a:avLst/>
          </a:prstGeom>
          <a:solidFill>
            <a:srgbClr val="C65B35"/>
          </a:solidFill>
          <a:ln w="12700">
            <a:solidFill>
              <a:srgbClr val="C65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82496" y="4654296"/>
            <a:ext cx="457200" cy="45720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98264" y="18653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↑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95528" y="5184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−k ↓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1188720" y="5760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费米面附近的配对示意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016752" y="2011680"/>
            <a:ext cx="5559552" cy="361188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7064" y="2212848"/>
            <a:ext cx="5138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成对算符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27064" y="2880360"/>
            <a:ext cx="513892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Bₖ = c₋ₖ↓ cₖ↑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湮灭一对电子。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〈Bₖ〉是配对异常平均值，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不是普通电子占据。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 HAMILTONIAN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约化 BCS Hamiltonian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Σₖσ ξₖ c†ₖσ cₖσ − V Σₖₖ′ B†ₖ Bₖ′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96112" y="2642616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Bₖ = c₋ₖ↓ cₖ↑；求和归一化吸收入 V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338328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" y="358444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359359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04672" y="427939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常态能量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4672" y="500176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ξₖ 描述费米面附近状态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334256" y="3383280"/>
            <a:ext cx="3511296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35424" y="358444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35424" y="359359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44568" y="427939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有效吸引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44568" y="500176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配对从 k′ 散射到 k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074152" y="338328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75320" y="358444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359359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284464" y="427939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作用窗口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84464" y="500176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|ξₖ|、|ξₖ′| &lt; Ec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MEAN-FIELD DECOUPLING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平均场：把多体问题变成二次型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47088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04825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05740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7432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465576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= V Σₖ〈Bₖ〉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4256" y="1847088"/>
            <a:ext cx="3511296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5424" y="204825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205740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544568" y="27432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44568" y="3465576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〈B〉+ δB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74152" y="1847088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204825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75320" y="205740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284464" y="27432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舍去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84464" y="3465576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δB† δB 二阶涨落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94360" y="4864608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02920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HMF = H₀ − Σₖ(ΔB†ₖ + Δ*Bₖ) + |Δ|²/V</a:t>
            </a:r>
            <a:endParaRPr lang="en-US" sz="2900" dirty="0"/>
          </a:p>
        </p:txBody>
      </p:sp>
      <p:sp>
        <p:nvSpPr>
          <p:cNvPr id="24" name="Text 21"/>
          <p:cNvSpPr/>
          <p:nvPr/>
        </p:nvSpPr>
        <p:spPr>
          <a:xfrm>
            <a:off x="896112" y="5678424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常数项必须保留，才能正确比较自由能。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NAMBU SPINOR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Nambu 表象：电子与空穴一起写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02920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121408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Nambu spinor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788920"/>
            <a:ext cx="460857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Ψₖ = ( cₖ↑ , c†₋ₖ↓ )ᵀ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电子/空穴基底共同描述配对。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934456" y="1920240"/>
            <a:ext cx="5650992" cy="3630168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81928" y="2286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hₖ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333488" y="24231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ξₖ        −Δ</a:t>
            </a:r>
            <a:endParaRPr lang="en-US" sz="3900" dirty="0"/>
          </a:p>
          <a:p>
            <a:pPr algn="ctr" indent="0" marL="0">
              <a:buNone/>
            </a:pPr>
            <a:r>
              <a:rPr lang="en-US" sz="3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−Δ*      −ξₖ</a:t>
            </a:r>
            <a:endParaRPr lang="en-US" sz="3900" dirty="0"/>
          </a:p>
        </p:txBody>
      </p:sp>
      <p:sp>
        <p:nvSpPr>
          <p:cNvPr id="13" name="Shape 10"/>
          <p:cNvSpPr/>
          <p:nvPr/>
        </p:nvSpPr>
        <p:spPr>
          <a:xfrm>
            <a:off x="7123176" y="2368296"/>
            <a:ext cx="0" cy="1956816"/>
          </a:xfrm>
          <a:prstGeom prst="line">
            <a:avLst/>
          </a:prstGeom>
          <a:noFill/>
          <a:ln w="25400">
            <a:solidFill>
              <a:srgbClr val="087F8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45952" y="2368296"/>
            <a:ext cx="0" cy="1956816"/>
          </a:xfrm>
          <a:prstGeom prst="line">
            <a:avLst/>
          </a:prstGeom>
          <a:noFill/>
          <a:ln w="25400">
            <a:solidFill>
              <a:srgbClr val="087F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8504" y="4709160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非对角项把电子与空穴混合。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QUASIPARTICLE SPECTRUM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准粒子谱：从 2 × 2 矩阵直接得到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E± = ±√(ξ² + |Δ|²)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94360" y="3355848"/>
            <a:ext cx="5330952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355701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在费米面 ξ = 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4224528"/>
            <a:ext cx="4910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最小正准粒子能量为 |Δ|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粒子–空穴两支对称。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54496" y="3355848"/>
            <a:ext cx="5330952" cy="236829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55701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动手验证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64808" y="4224528"/>
            <a:ext cx="4910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 [[ξ, −Δ], [−Δ, −ξ]]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eigvalsh 与解析式。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COHERENCE FACTORS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相干因子：准粒子不是纯电子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uₖ² = (1 + ξₖ/Eₖ)/2     vₖ² = (1 − ξₖ/Eₖ)/2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94360" y="3355848"/>
            <a:ext cx="5330952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355701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费米面附近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4224528"/>
            <a:ext cx="4910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ξ → 0：u² = v² = 1/2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电子与空穴强烈混合。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54496" y="3355848"/>
            <a:ext cx="5330952" cy="236829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557016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远离费米面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64808" y="4224528"/>
            <a:ext cx="4910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|ξ| ≫ |Δ|：一种成分占主导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逐渐接近常态特征。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 CONSISTENCY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自洽：输入 Δ，也必须输出同一个 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12140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1305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81635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 Δ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53872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由它确定 Eₖ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99282" y="192024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0450" y="212140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0450" y="21305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609594" y="281635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热占据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09594" y="353872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1 − 2f(E) = tanh(E/2kBT)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04204" y="192024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5372" y="212140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5372" y="21305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14516" y="281635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计算平均值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14516" y="353872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〈Bₖ〉= Δ tanh(Eₖ/2kBT)/(2Eₖ)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009126" y="192024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10294" y="212140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10294" y="21305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219438" y="281635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19438" y="353872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= V Σₖ〈Bₖ〉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85800" y="5157216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原始方程总有 Δ = 0；下一步的除法只适用于非零分支。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DOS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求和变积分：因子 2 在这里抵消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= VN₀ ∫₋Ecᴱc [tanh(E/2kBT)/(2E)] dξ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685800" y="3319272"/>
            <a:ext cx="10607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偶函数积分 × 2  与  分母 2  相互抵消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94360" y="4224528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3891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1/g = ∫₀ᴱc tanh(√(ξ² + Δ²)/(2kBT)) / √(ξ² + Δ²) dξ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896112" y="5038344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= N₀V；这是代码真正使用的归一化。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DIMENSIONLESS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无量纲化：先算形状，再换物理单位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33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47088"/>
          <a:ext cx="1099108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047488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代码含义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ξ / Ec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积分变量，范围 0 到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/ Ec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gap() 返回值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kBT / Ec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temperature 参数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kBTc / Ec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critical_temperature() 返回值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" y="4718304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4882896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1/g = ∫₀¹ tanh(√(x²+d²)/(2t)) / √(x²+d²) dx</a:t>
            </a:r>
            <a:endParaRPr lang="en-US" sz="2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ZERO-TEMPERATURE LIMIT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零温解：先拿到一个精确基准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1/g = asinh(1/d₀)    ⇒    d₀ = 1/sinh(1/g)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94360" y="3474720"/>
            <a:ext cx="5330952" cy="22219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3794760"/>
            <a:ext cx="4700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0.071438902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96112" y="4809744"/>
            <a:ext cx="4700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= 0.30 的精确有限截止结果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54496" y="3474720"/>
            <a:ext cx="5330952" cy="2221992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67588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弱耦合近似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64808" y="4343400"/>
            <a:ext cx="49103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≪ 1 时 d₀ ≈ 2 exp(−1/g)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不要用近似值强行替代精确式。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 TEMPERATURE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Tc：用线性化方程，不用拟合曲线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1/g = ∫₀¹ tanh(x/2tc)/x dx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96112" y="2642616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→ 0 的有限极限为 1/(2tc)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3383280"/>
            <a:ext cx="53309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58444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弱耦合结果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04672" y="4251960"/>
            <a:ext cx="49103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 ≈ [2 exp(γ)/π] exp(−1/g)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2Δ₀/(kBTc) → 3.527754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54496" y="3383280"/>
            <a:ext cx="5330952" cy="2395728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58444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默认有限截止结果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64808" y="4251960"/>
            <a:ext cx="49103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 = 0.040449525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能隙比 = 3.532249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NUMERICAL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数值算法：括区间求根 + 代回检查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984248"/>
            <a:ext cx="201533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18541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194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880360"/>
            <a:ext cx="1594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零温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602736"/>
            <a:ext cx="15947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先得到 d₀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838298" y="1984248"/>
            <a:ext cx="2015338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9466" y="218541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39466" y="2194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048610" y="2880360"/>
            <a:ext cx="1594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048610" y="3602736"/>
            <a:ext cx="15947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R(0,t) = 0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082235" y="1984248"/>
            <a:ext cx="201533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83403" y="218541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83403" y="2194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5292547" y="2880360"/>
            <a:ext cx="1594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292547" y="3602736"/>
            <a:ext cx="15947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R(d,t) = 0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326173" y="1984248"/>
            <a:ext cx="2015338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27341" y="218541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27341" y="2194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7536485" y="2880360"/>
            <a:ext cx="1594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536485" y="3602736"/>
            <a:ext cx="15947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残差与极限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570110" y="1984248"/>
            <a:ext cx="201533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71278" y="2185416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71278" y="2194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780422" y="2880360"/>
            <a:ext cx="1594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780422" y="3602736"/>
            <a:ext cx="15947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+ 图 + 版本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731520" y="5184648"/>
            <a:ext cx="10515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R(d,t) = 积分 − 1/g；T ≥ Tc 不再强求正根。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把公式对应到代码入口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33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47088"/>
          <a:ext cx="1099108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047488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计算内容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学习重点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BCSModel(g)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明确归一化与容差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不要把 g 当 EPC 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delta0_exact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有限截止零温式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精确值与弱耦合近似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critical_temperature()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线性化积分求根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= 0 的极限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gap(t, tc)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非零支路求根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正常态分支与低温平台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run_bcs.py / test_bcs.py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生成结果 / 自动检查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不能只有画图，没有验证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SCAN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能隙温度曲线：实线不是拟合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33</a:t>
            </a:r>
            <a:endParaRPr lang="en-US" sz="1100" dirty="0"/>
          </a:p>
        </p:txBody>
      </p:sp>
      <p:pic>
        <p:nvPicPr>
          <p:cNvPr id="7" name="Image 0" descr="gap_vs_temperature.png; generated by run_bcs.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5026"/>
            <a:ext cx="7333488" cy="440009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0" y="2057400"/>
            <a:ext cx="3355848" cy="3639312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39912" y="225856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读图提示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39912" y="2926080"/>
            <a:ext cx="293522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低温：热激发受抑制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 附近：能隙趋于零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虚线：经验插值近似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WEAK-COUPLING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耦合扫描：为什么不是处处 3.53？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33</a:t>
            </a:r>
            <a:endParaRPr lang="en-US" sz="1100" dirty="0"/>
          </a:p>
        </p:txBody>
      </p:sp>
      <p:pic>
        <p:nvPicPr>
          <p:cNvPr id="7" name="Image 0" descr="coupling_scan.png; generated by run_bcs.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184" y="1773936"/>
            <a:ext cx="8981440" cy="40416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88873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有限截止效应 ≠ 已包含 Eliashberg 强耦合修正。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DYNES DENSITY OF STATES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态密度 DOS：观测量也有近似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33</a:t>
            </a:r>
            <a:endParaRPr lang="en-US" sz="1100" dirty="0"/>
          </a:p>
        </p:txBody>
      </p:sp>
      <p:pic>
        <p:nvPicPr>
          <p:cNvPr id="7" name="Image 0" descr="dos.png; generated by run_bcs.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5026"/>
            <a:ext cx="7333488" cy="440009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0" y="2057400"/>
            <a:ext cx="3355848" cy="3639312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39912" y="225856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可修改的练习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39912" y="2926080"/>
            <a:ext cx="293522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η/Δ₀ = 0.01、0.03、0.10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比较峰高、宽度与隙内 DOS。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 只是现象学输入。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 UNITS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换单位：9.39 K 不是材料预测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10991088" cy="113385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9933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83C3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Tc [K] = tc × Ec [eV] / kB [eV/K]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594360" y="3383280"/>
            <a:ext cx="53309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358444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 Ec = 20 meV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4251960"/>
            <a:ext cx="49103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 ≈ 9.387945 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Δ₀ ≈ 1.428778 meV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54496" y="3383280"/>
            <a:ext cx="5330952" cy="2395728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58444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g，Ec 加倍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64808" y="4251960"/>
            <a:ext cx="49103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与 meV 数值加倍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Δ/Δ₀、T/Tc 曲线不变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验证表：从“能运行”到“可信”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33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47088"/>
          <a:ext cx="1099108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047488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默认结果 / 规则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为什么需要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自动测试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7 通过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保护公式、分支与单位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零温与弱耦合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独立积分；g=0.18 比值极限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不以经验比值作为输入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趋势与端点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非增；T ≥ Tc 返回零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低温平台不能误判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非零分支残差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最大约 3.87 × 10⁻¹³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结果必须代回原问题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积分容差扫描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10⁻⁶、10⁻⁸、10⁻¹⁰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排除数值容差敏感性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DOS 与输入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正常极限、对称性、非法输入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防止漂亮但错误的图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三个练习：预测结果，再改参数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8620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耦合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5844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g：0.30 → 0.18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比值更接近弱耦合极限？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4256" y="1965960"/>
            <a:ext cx="3511296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5424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544568" y="28620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单位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44568" y="35844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Ec：20 → 40 meV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哪些量变、哪些不变？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74152" y="196596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75320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284464" y="28620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展宽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84464" y="35844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η/Δ₀：0.03 → 0.10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峰高和隙内权重如何变？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3152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提交一页解释：参数、预测、结果、差异、误差。</a:t>
            </a:r>
            <a:endParaRPr lang="en-US" sz="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 SESSIONS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推荐学习顺序：三次完成，不一次硬啃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8620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次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5844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60–90 分钟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读符号、推导、解析极限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4256" y="1965960"/>
            <a:ext cx="3511296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5424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544568" y="28620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次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44568" y="35844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60–90 分钟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逐格运行 Notebook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74152" y="196596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75320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284464" y="2862072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次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284464" y="3584448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45–60 分钟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检查误差并完成练习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94360" y="4910328"/>
            <a:ext cx="10991088" cy="117957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093208"/>
            <a:ext cx="10424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看细节；PPTX 看结构；Notebook 改参数；脚本重建结果。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FIRST-PRINCIPLES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连接材料：DFT 不直接输出 BCS 能隙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210312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常态电子与基态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99282" y="210312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0450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0450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609594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DFPT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09594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声子和势响应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04204" y="210312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5372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5372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14516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EPC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14516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g、α²F、λ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009126" y="210312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10294" y="230428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10294" y="23134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219438" y="299923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Eliashberg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19438" y="372160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Δ、Z、Tc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85800" y="5193792"/>
            <a:ext cx="1060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BCS 的 g ≠ EPC 的 λ；配对 Ec ≠ DFT 的 ecutwfc。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QE INPUT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 输入：每个参数都要知道单位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33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47088"/>
          <a:ext cx="1099108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047488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本例输入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ibrav=2，nat=1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fcc 原胞；只有 3 个声子分支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晶格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celldm(1)=7.65339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Bohr，不是 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平面波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/ 320 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ecutwfc / ecutrho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金属积分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8³ 偏移，mv，0.02 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数值占据展宽，不是超导温度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q=(0,0,0)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只算 Γ，不是全 q 网格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基态关联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 prefix / outdir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声子读取对应 SCF 数据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真实集群测试：保存任务身份和证据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5330952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2996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主任务 JobID 313274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491032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QE 7.5 · iq-main · 4 MPI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COMPLETED · ExitCode 0:0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SCF：5 次迭代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= −39.50303902 Ry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54496" y="1828800"/>
            <a:ext cx="5330952" cy="3355848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02996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可追溯证据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4808" y="2697480"/>
            <a:ext cx="491032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输入与提交脚本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/ phonon.output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Slurm 状态快照与完成标记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赝势 SHA256 与环境版本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5632704"/>
            <a:ext cx="10607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WorkDir: /home/runhan/work_superconductor_bcs_20261003/02_qe_al_smoke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ACOUSTIC SUM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Γ 点的负频率：保留原始值再解释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5330952" cy="32826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7568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ph.x 输出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491032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−3.374924 cm⁻¹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−3.374924 cm⁻¹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−3.374924 cm⁻¹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未施加 ASR，原文件保留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54496" y="1874520"/>
            <a:ext cx="5330952" cy="3282696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07568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crystal ASR 后处理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4808" y="2743200"/>
            <a:ext cx="4910328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0.000000 cm⁻¹ × 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JobID 313279 已完成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输出写入新文件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不覆盖原始动力学矩阵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5596128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 Γ 平移约束 ≠ 证明全声子/EPC 网格收敛。</a:t>
            </a:r>
            <a:endParaRPr lang="en-US" sz="2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CONVERGENCE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下一步：收敛测试，不急着宣布 Tc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33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47088"/>
          <a:ext cx="1099108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047488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建议练习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保存的比较量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F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→ 50 → 60 Ry；独立 ecutrho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能量 / 原子、应力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电子积分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8³ → 12³ → 16³；多档 smearing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EF、能量、频率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声子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 q → 全 q 网格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色散、原始/ASR 区分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粗网格 → 插值 → 细网格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矩阵元、α²F、λ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配对方程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温度、频率截断、μ* 敏感性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Δ、Z、Tc 与误差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46304" marB="146304" anchor="ctr">
                    <a:lnL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6F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REPRODUCTION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文献复现：先选一张图或一张表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96596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5528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04672" y="286207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4672" y="358444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图号、表号与条件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99282" y="196596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0450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0450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609594" y="286207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对齐模型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09594" y="358444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结构、赝势和近似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04204" y="1965960"/>
            <a:ext cx="257632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5372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5372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414516" y="286207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独立计算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14516" y="358444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保存输入和版本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009126" y="1965960"/>
            <a:ext cx="2576322" cy="2560320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10294" y="2167128"/>
            <a:ext cx="475488" cy="47548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10294" y="21762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9219438" y="2862072"/>
            <a:ext cx="2155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比较误差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19438" y="3584448"/>
            <a:ext cx="2155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逐点差异与原因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85800" y="5266944"/>
            <a:ext cx="1060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当前状态：教学基准已验证；原论文定量图表复现尚未开始。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TEACHING RESOURCES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开放教材：可以复用，也要保留许可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6D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533095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2996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6.763 · Lecture 19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491032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Terry P. Orlando · 2005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微观相互作用与声子背景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PDF，未修改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54496" y="1828800"/>
            <a:ext cx="5330952" cy="2907792"/>
          </a:xfrm>
          <a:prstGeom prst="rect">
            <a:avLst/>
          </a:prstGeom>
          <a:solidFill>
            <a:srgbClr val="E1EEEB"/>
          </a:solidFill>
          <a:ln w="12700">
            <a:solidFill>
              <a:srgbClr val="E1EEE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029968"/>
            <a:ext cx="4910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8.514 · Problem Set 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4808" y="2697480"/>
            <a:ext cx="491032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Leonid Levitov · 2003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BCS 准粒子与能隙练习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PDF，未修改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5138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65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 BY-NC-SA 4.0：署名 · 非商业 · 相同方式共享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85800" y="5824728"/>
            <a:ext cx="10607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原始链接、文件哈希与许可：resources/开放教材与复用说明.md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8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先完成一个小而完整的学习闭环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642823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超导理论 × 计算 × 验证  |  2026-10-03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8630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33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" y="1883664"/>
            <a:ext cx="676656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推导一条公式</a:t>
            </a:r>
            <a:endParaRPr lang="en-US" sz="3500" dirty="0"/>
          </a:p>
          <a:p>
            <a:pPr indent="0" marL="0">
              <a:buNone/>
            </a:pPr>
            <a:r>
              <a:rPr lang="en-US" sz="3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修改一个参数</a:t>
            </a:r>
            <a:endParaRPr lang="en-US" sz="3500" dirty="0"/>
          </a:p>
          <a:p>
            <a:pPr indent="0" marL="0">
              <a:buNone/>
            </a:pPr>
            <a:r>
              <a:rPr lang="en-US" sz="3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解释一项误差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8540496" y="2048256"/>
            <a:ext cx="2240280" cy="224028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0496" y="2130552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200" dirty="0"/>
          </a:p>
        </p:txBody>
      </p:sp>
      <p:sp>
        <p:nvSpPr>
          <p:cNvPr id="10" name="Text 7"/>
          <p:cNvSpPr/>
          <p:nvPr/>
        </p:nvSpPr>
        <p:spPr>
          <a:xfrm>
            <a:off x="8485632" y="4581144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5800" y="56601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6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资料不是终点；能够独立重建、检验和解释，才是下一步。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LRH123LRH123/work_superconductor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BCS超导理论与计算入门</dc:title>
  <dc:subject>BCS theory, numerical validation and QE cluster smoke test</dc:subject>
  <dc:creator>work_superconductor learning project</dc:creator>
  <cp:lastModifiedBy>work_superconductor learning project</cp:lastModifiedBy>
  <cp:revision>1</cp:revision>
  <dcterms:created xsi:type="dcterms:W3CDTF">2026-10-03T16:37:04Z</dcterms:created>
  <dcterms:modified xsi:type="dcterms:W3CDTF">2026-10-03T16:37:04Z</dcterms:modified>
</cp:coreProperties>
</file>